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96C938-D5CD-4B1A-8727-2961A9490B7A}" v="1" dt="2026-05-19T19:56:34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552D8E-7152-451B-BFF9-E7139DAB1978}" type="datetimeFigureOut"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3C922-8D7F-4E5A-9312-5C2B59CB11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47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73152" cy="6858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9738360" y="237744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COURSE PROJECT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 &amp;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Unsupervised Machine Learning &amp; Deep Learning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3703320"/>
            <a:ext cx="7315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Ibrahim Al-Khataybeh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6072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180465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Abdullah Abu Amara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6072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180595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" y="5303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Abdullah Abualigah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60720" y="5303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168990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Credit Card Fraud Detection  •  284,807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097280" y="987552"/>
            <a:ext cx="457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advanced machine learning and deep learning techniques to analyze high-dimensional transaction data, identify hidden patterns, cluster behaviors, and detect anomalies using both classical ML and neural network approaches.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274320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286000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231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23957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 &amp; Scale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2743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a real-world high-dimensional dataset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337560" y="2286000"/>
            <a:ext cx="274320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337560" y="2286000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4231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31920" y="23957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Dimensions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520440" y="2743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PCA to compress features while preserving variance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217920" y="2286000"/>
            <a:ext cx="274320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217920" y="2286000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42316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12280" y="23957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 Structure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0" y="2743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 into 2D using t-SNE to reveal hidden patterns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9098280" y="2286000"/>
            <a:ext cx="274320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9098280" y="2286000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242316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692640" y="239572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with DBSCAN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9281160" y="27432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dense regions and noise points automatically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57200" y="3410712"/>
            <a:ext cx="274320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57200" y="3410712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547872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51560" y="35204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Anomalies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640080" y="38679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One-Class SVM to flag outliers from normal-only training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3337560" y="3410712"/>
            <a:ext cx="274320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3337560" y="3410712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0440" y="3547872"/>
            <a:ext cx="320040" cy="32004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931920" y="35204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Deep Network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3520440" y="38679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Autoencoder with TensorFlow / Keras for reconstruction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6217920" y="3410712"/>
            <a:ext cx="274320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6217920" y="3410712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3547872"/>
            <a:ext cx="320040" cy="32004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812280" y="35204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Approaches</a:t>
            </a:r>
            <a:endParaRPr lang="en-US" sz="1300" dirty="0"/>
          </a:p>
        </p:txBody>
      </p:sp>
      <p:sp>
        <p:nvSpPr>
          <p:cNvPr id="41" name="Text 31"/>
          <p:cNvSpPr/>
          <p:nvPr/>
        </p:nvSpPr>
        <p:spPr>
          <a:xfrm>
            <a:off x="6400800" y="38679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classical ML against deep learning side-by-side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9098280" y="3410712"/>
            <a:ext cx="274320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9098280" y="3410712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1160" y="3547872"/>
            <a:ext cx="320040" cy="32004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9692640" y="35204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&amp; Interpret</a:t>
            </a:r>
            <a:endParaRPr lang="en-US" sz="1300" dirty="0"/>
          </a:p>
        </p:txBody>
      </p:sp>
      <p:sp>
        <p:nvSpPr>
          <p:cNvPr id="46" name="Text 35"/>
          <p:cNvSpPr/>
          <p:nvPr/>
        </p:nvSpPr>
        <p:spPr>
          <a:xfrm>
            <a:off x="9281160" y="386791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 Precision, Recall, F1, ROC-AUC and visual diagnostics</a:t>
            </a:r>
            <a:endParaRPr lang="en-US" sz="1000" dirty="0"/>
          </a:p>
        </p:txBody>
      </p:sp>
      <p:sp>
        <p:nvSpPr>
          <p:cNvPr id="47" name="Shape 36"/>
          <p:cNvSpPr/>
          <p:nvPr/>
        </p:nvSpPr>
        <p:spPr>
          <a:xfrm>
            <a:off x="457200" y="4983480"/>
            <a:ext cx="1129284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457200" y="498348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777240" y="5074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Techniques</a:t>
            </a:r>
            <a:endParaRPr lang="en-US" sz="1100" dirty="0"/>
          </a:p>
        </p:txBody>
      </p:sp>
      <p:sp>
        <p:nvSpPr>
          <p:cNvPr id="50" name="Text 39"/>
          <p:cNvSpPr/>
          <p:nvPr/>
        </p:nvSpPr>
        <p:spPr>
          <a:xfrm>
            <a:off x="7772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 ·  t-SNE  ·  DBSCAN  ·  One-Class SVM  ·  Autoencoder  (TensorFlow + Keras)</a:t>
            </a:r>
            <a:endParaRPr lang="en-US" sz="1800" dirty="0"/>
          </a:p>
        </p:txBody>
      </p:sp>
      <p:sp>
        <p:nvSpPr>
          <p:cNvPr id="51" name="Text 40"/>
          <p:cNvSpPr/>
          <p:nvPr/>
        </p:nvSpPr>
        <p:spPr>
          <a:xfrm>
            <a:off x="77724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scikit-learn  ·  TensorFlow / Keras  ·  pandas  ·  NumPy  ·  Matplotlib  ·  Seaborn  ·  Optuna</a:t>
            </a:r>
            <a:endParaRPr lang="en-US" sz="1100" dirty="0"/>
          </a:p>
        </p:txBody>
      </p:sp>
      <p:sp>
        <p:nvSpPr>
          <p:cNvPr id="52" name="Text 4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Credit Card Transactions</a:t>
            </a:r>
            <a:endParaRPr lang="en-US" sz="900" dirty="0"/>
          </a:p>
        </p:txBody>
      </p:sp>
      <p:sp>
        <p:nvSpPr>
          <p:cNvPr id="53" name="Text 4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Credit Card Fraud Detection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097280" y="987552"/>
            <a:ext cx="457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371600"/>
            <a:ext cx="548640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371600"/>
            <a:ext cx="7315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44475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284,807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017520" y="14447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450592"/>
            <a:ext cx="548640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450592"/>
            <a:ext cx="7315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52374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3017520" y="252374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 (Time, V1–V28, Amount, Class)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529584"/>
            <a:ext cx="548640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3529584"/>
            <a:ext cx="7315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60273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492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3017520" y="360273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transactions  (Class = 1)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608576"/>
            <a:ext cx="548640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4608576"/>
            <a:ext cx="7315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46817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0.173%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3017520" y="468172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— highly imbalanced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1792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Distribution  (log scale)</a:t>
            </a:r>
            <a:endParaRPr lang="en-US" sz="1400" dirty="0"/>
          </a:p>
        </p:txBody>
      </p:sp>
      <p:pic>
        <p:nvPicPr>
          <p:cNvPr id="23" name="Image 1" descr="/home/claude/imgs/class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554480"/>
            <a:ext cx="5486400" cy="329184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217920" y="5029200"/>
            <a:ext cx="548640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355080" y="5074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355080" y="53949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 across all 31 features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on Amount; StandardScaler on Time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90 / 10 train–validation split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Credit Card Transactions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Correlation with Class  (Fraud)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097280" y="987552"/>
            <a:ext cx="457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280160"/>
            <a:ext cx="6766560" cy="5029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3716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of every feature with the Class target</a:t>
            </a:r>
            <a:endParaRPr lang="en-US" sz="1000" dirty="0"/>
          </a:p>
        </p:txBody>
      </p:sp>
      <p:pic>
        <p:nvPicPr>
          <p:cNvPr id="8" name="Image 1" descr="/home/claude/imgs/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6400800" cy="4434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52360" y="1280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look at correlations?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452360" y="164592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captures the strength of linear association between each anonymized feature and the fraud label. This guides feature awareness before unsupervised modelling.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452360" y="2880360"/>
            <a:ext cx="429768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52360" y="2880360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35240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negative correlates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635240" y="3291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V17  ·  V14  ·  V12  ·  V10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635240" y="3703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values of these features align with fraudulent transactions.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452360" y="4297680"/>
            <a:ext cx="429768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52360" y="4297680"/>
            <a:ext cx="73152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635240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positive correlates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635240" y="4709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V11  ·  V4  ·  V2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635240" y="5120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values of these features tend to coincide with fraud.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452360" y="57150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features show weak linear correlation with the target — motivating non-linear methods (t-SNE, DBSCAN, Autoencoder) for detection.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Credit Card Transactions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Six-Phase Methodology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097280" y="987552"/>
            <a:ext cx="457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325880"/>
            <a:ext cx="3657600" cy="2103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63040" y="16002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463040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2468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scaling, stratified split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355848"/>
            <a:ext cx="36576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9372" y="2377440"/>
            <a:ext cx="128016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251960" y="1325880"/>
            <a:ext cx="3657600" cy="2103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80560" y="1600200"/>
            <a:ext cx="640080" cy="6400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805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257800" y="16002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257800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26280" y="2468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at 95 % variance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251960" y="3355848"/>
            <a:ext cx="36576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914132" y="2377440"/>
            <a:ext cx="128016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8046720" y="1325880"/>
            <a:ext cx="3657600" cy="2103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75320" y="1600200"/>
            <a:ext cx="640080" cy="6400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753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9052560" y="16002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052560" y="1828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t-SNE Visualization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321040" y="24688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 projection across imbalance ratios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046720" y="3355848"/>
            <a:ext cx="36576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7200" y="3703320"/>
            <a:ext cx="3657600" cy="2103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85800" y="3977640"/>
            <a:ext cx="640080" cy="6400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580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1463040" y="39776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463040" y="4206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 Clustering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31520" y="4846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detection of noise points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5733288"/>
            <a:ext cx="36576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9372" y="4754880"/>
            <a:ext cx="128016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4251960" y="3703320"/>
            <a:ext cx="3657600" cy="2103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480560" y="3977640"/>
            <a:ext cx="640080" cy="6400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48056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5257800" y="39776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257800" y="4206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One-Class SVM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4526280" y="4846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learning from normal data only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251960" y="5733288"/>
            <a:ext cx="36576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914132" y="4754880"/>
            <a:ext cx="128016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8046720" y="3703320"/>
            <a:ext cx="3657600" cy="2103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275320" y="3977640"/>
            <a:ext cx="640080" cy="6400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27532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8" name="Text 45"/>
          <p:cNvSpPr/>
          <p:nvPr/>
        </p:nvSpPr>
        <p:spPr>
          <a:xfrm>
            <a:off x="9052560" y="39776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9052560" y="4206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Autoencoder (DL)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8321040" y="4846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Reconstruction-error anomaly detection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8046720" y="5733288"/>
            <a:ext cx="36576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Credit Card Transactions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 —  Dimensionality Reduction with PCA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097280" y="987552"/>
            <a:ext cx="457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80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600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30 input features while preserving information, removing redundancy, and accelerating downstream models.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5120640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743200"/>
            <a:ext cx="73152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7889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9000" dirty="0"/>
          </a:p>
        </p:txBody>
      </p:sp>
      <p:sp>
        <p:nvSpPr>
          <p:cNvPr id="11" name="Text 8"/>
          <p:cNvSpPr/>
          <p:nvPr/>
        </p:nvSpPr>
        <p:spPr>
          <a:xfrm>
            <a:off x="2286000" y="2926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28600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retain ≥ 95 % of total variance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286000" y="3886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Reduction:  30  →  24  features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46634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PCA-transformed training matrix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input for DBSCAN &amp; sampling-based visualization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52160" y="12801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Cumulative Explained Variance</a:t>
            </a:r>
            <a:endParaRPr lang="en-US" sz="1400" dirty="0"/>
          </a:p>
        </p:txBody>
      </p:sp>
      <p:pic>
        <p:nvPicPr>
          <p:cNvPr id="16" name="Image 1" descr="/home/claude/imgs/pca_vari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645920"/>
            <a:ext cx="5852160" cy="3657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852160" y="53492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95 % threshold is reached at component 24, after which marginal gain becomes negligible.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Credit Card Transactions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 —  t-SNE  Visualizing Hidden Structure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097280" y="987552"/>
            <a:ext cx="457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6" name="Image 1" descr="/home/claude/imgs/tsne_plots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80160"/>
            <a:ext cx="6217920" cy="4663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5989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projection at 1:20 normal-to-fraud sampling ratio.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949440" y="1280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t-SNE?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949440" y="1600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preserves global variance but compresses non-linear structure. t-SNE reveals local neighbourhoods, making fraud clusters visually identifiable.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949440" y="2743200"/>
            <a:ext cx="48463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949440" y="2743200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132320" y="2816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Distinct fraud cluster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132320" y="3108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dense red cluster forms in the lower-left region, well-separated from the normal manifold.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949440" y="3840480"/>
            <a:ext cx="48463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49440" y="3840480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13232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fraud points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132320" y="4206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fraud cases blend into normal clusters — these are the hard, ambiguous cases for detectors.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949440" y="4937760"/>
            <a:ext cx="484632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49440" y="4937760"/>
            <a:ext cx="54864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132320" y="5010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Ratios tested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132320" y="5303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at 1:1, 1:4, 1:10, 1:20 normal-to-fraud sampling to study separability under imbalance.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Credit Card Transactions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4–5  —  DBSCAN  &amp;  One-Class SVM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097280" y="987552"/>
            <a:ext cx="457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280160"/>
            <a:ext cx="5623560" cy="5029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280160"/>
            <a:ext cx="562356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3258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  —  Density-Based Clustering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530352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(fraud)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20 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40080" y="4251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40080" y="4526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ratio 1:20  •  min_samples = 93  •  eps = 7.0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493776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Auto-tuned via k-distance graph + grid search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points (label = −1) flagged as fraud candidates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F1-fraud of 0.765 at 1:20 ratio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63640" y="1280160"/>
            <a:ext cx="5486400" cy="50292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280160"/>
            <a:ext cx="54864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0" y="1325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One-Class SVM  —  Boundary Learning</a:t>
            </a:r>
            <a:endParaRPr lang="en-US" sz="14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74520"/>
          <a:ext cx="521208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 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6400800" y="4251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400800" y="4526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= RBF  •  ν = 0.01  •  γ = 'auto'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0" y="493776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exclusively on normal transactions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function thresholded at 0 (predict = −1 ⇒ fraud)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F1-fraud of 0.924 at 1:1 sampling ratio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Credit Card Transactions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  vs  One-Class SVM  —  Spatial View at Best Ratios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097280" y="987552"/>
            <a:ext cx="457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34440"/>
            <a:ext cx="11292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projections of validation data with anomalies flagged by each detector at its best-performing sampling ratio. Red points are the predicted anomalies.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5623560" cy="4343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965960"/>
            <a:ext cx="562356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0116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  ·  best ratio  1 : 20</a:t>
            </a:r>
            <a:endParaRPr lang="en-US" sz="1400" dirty="0"/>
          </a:p>
        </p:txBody>
      </p:sp>
      <p:pic>
        <p:nvPicPr>
          <p:cNvPr id="10" name="Image 1" descr="/home/claude/imgs/best_dbscan_1to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560320"/>
            <a:ext cx="5349240" cy="3108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" y="57607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 = 93   ·   eps = 7.0   ·   </a:t>
            </a: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0.765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Recall = 0.824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94360" y="603504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noise points (label = −1) flagged as fraud.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63640" y="1965960"/>
            <a:ext cx="5486400" cy="4343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965960"/>
            <a:ext cx="548640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0" y="2011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One-Class SVM  ·  best ratio  1 : 1</a:t>
            </a:r>
            <a:endParaRPr lang="en-US" sz="1400" dirty="0"/>
          </a:p>
        </p:txBody>
      </p:sp>
      <p:pic>
        <p:nvPicPr>
          <p:cNvPr id="16" name="Image 2" descr="/home/claude/imgs/best_ocsvm_1to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560320"/>
            <a:ext cx="5212080" cy="31089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5760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= RBF   ·   ν = 0.01   ·   </a:t>
            </a: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0.924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Recall = 0.939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400800" y="6035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points predicted as −1 (anomalies) by the trained boundary.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Credit Card Transactions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6  —  Autoencoder  (TensorFlow / Keras)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097280" y="987552"/>
            <a:ext cx="457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280160"/>
            <a:ext cx="585216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280160"/>
            <a:ext cx="73152" cy="2011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(Optuna-tuned)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 →  34  →  28  →  16  →  12  →  16  →  28  →  34  →  30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21214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over-complete encoder–decoder with a 12-unit bottleneck.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parameters: 5,422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2788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normal transactions only; fraud flagged via reconstruction error.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429000"/>
            <a:ext cx="5852160" cy="2880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6060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 (MSE)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" y="4242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606040" y="42428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" y="45537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606040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 (Early Stopping, patience = 10)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5800" y="4864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60604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5800" y="51755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 split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606040" y="5175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90 % / 10 %  on normal class only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85800" y="5486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60604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PR-curve tuned  →  1.170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85800" y="5797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search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606040" y="5797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layer1, layer2, layer3, layer4  (categorical)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92240" y="1280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&amp; Validation Loss</a:t>
            </a:r>
            <a:endParaRPr lang="en-US" sz="1300" dirty="0"/>
          </a:p>
        </p:txBody>
      </p:sp>
      <p:pic>
        <p:nvPicPr>
          <p:cNvPr id="30" name="Image 1" descr="/home/claude/imgs/loss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600200"/>
            <a:ext cx="5303520" cy="22402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492240" y="3931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 ·  Reconstruction Error</a:t>
            </a:r>
            <a:endParaRPr lang="en-US" sz="1300" dirty="0"/>
          </a:p>
        </p:txBody>
      </p:sp>
      <p:pic>
        <p:nvPicPr>
          <p:cNvPr id="32" name="Image 2" descr="/home/claude/imgs/cm_re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251960"/>
            <a:ext cx="5303520" cy="20116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Credit Card Transactions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 Latent Representations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097280" y="987552"/>
            <a:ext cx="457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344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Autoencoder's 12-unit bottleneck is extracted as a feature encoder. Its outputs are projected into 2-D using PCA and t-SNE to inspect whether fraud and normal transactions become linearly separable in the learned latent space.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1129284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057400"/>
            <a:ext cx="73152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0848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source: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 bottleneck layer   ·  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shape: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(28,924 × 12)   ·  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 &amp;  t-SNE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743200"/>
            <a:ext cx="5623560" cy="3474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281635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projection of latent space</a:t>
            </a:r>
            <a:endParaRPr lang="en-US" sz="1000" dirty="0"/>
          </a:p>
        </p:txBody>
      </p:sp>
      <p:pic>
        <p:nvPicPr>
          <p:cNvPr id="12" name="Image 1" descr="/home/claude/imgs/latent_sp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08960"/>
            <a:ext cx="5257800" cy="2743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4360" y="58978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 — partial separation visible.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63640" y="2743200"/>
            <a:ext cx="5486400" cy="34747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0" y="28163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projection of latent space</a:t>
            </a:r>
            <a:endParaRPr lang="en-US" sz="1000" dirty="0"/>
          </a:p>
        </p:txBody>
      </p:sp>
      <p:pic>
        <p:nvPicPr>
          <p:cNvPr id="16" name="Image 2" descr="/home/claude/imgs/latent_space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108960"/>
            <a:ext cx="5120640" cy="2743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5897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projection — fraud forms distinct clusters.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Credit Card Transactions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2120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Comparison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097280" y="987552"/>
            <a:ext cx="457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280160"/>
            <a:ext cx="374904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280160"/>
            <a:ext cx="54864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F1-score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0.924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2331720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One-Class SVM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89120" y="1280160"/>
            <a:ext cx="374904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89120" y="1280160"/>
            <a:ext cx="54864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ROC-AUC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0.946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6263640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Autoencoder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321040" y="1280160"/>
            <a:ext cx="3749040" cy="1143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1280160"/>
            <a:ext cx="54864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039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50392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0.939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10195560" y="1828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One-Class SVM</a:t>
            </a:r>
            <a:endParaRPr lang="en-US" sz="1300" dirty="0"/>
          </a:p>
        </p:txBody>
      </p:sp>
      <p:pic>
        <p:nvPicPr>
          <p:cNvPr id="21" name="Image 1" descr="/home/claude/imgs/final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51760"/>
            <a:ext cx="6583680" cy="35661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223760" y="2651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Summary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3063240"/>
          <a:ext cx="4572000" cy="1463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One-Class 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 19"/>
          <p:cNvSpPr/>
          <p:nvPr/>
        </p:nvSpPr>
        <p:spPr>
          <a:xfrm>
            <a:off x="7223760" y="50749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One-Class SVM achieves the highest F1 and Recall, while the Autoencoder leads in ROC-AUC. DBSCAN trails on Precision but remains competitive on Recall.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Credit Card Transactions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02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1264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097280" y="1097280"/>
            <a:ext cx="457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56235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554480"/>
            <a:ext cx="73152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691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508760" y="1737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approaches tested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22402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DBSCAN, One-Class SVM, and an Autoencoder evaluated under identical sampling ratios for a fair comparison.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1554480"/>
            <a:ext cx="56235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1554480"/>
            <a:ext cx="73152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1691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269480" y="1737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trade-offs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46520" y="22402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algorithm displayed distinct strengths — model choice depends on the precision-vs-recall priority of the deployment.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383280"/>
            <a:ext cx="56235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3383280"/>
            <a:ext cx="73152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3520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1508760" y="3566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matters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00" y="40690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scaling, log-transformation of Amount, PCA, and stratified splitting significantly shaped final results.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17920" y="3383280"/>
            <a:ext cx="56235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17920" y="3383280"/>
            <a:ext cx="73152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46520" y="3520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7269480" y="3566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strategy recommended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46520" y="40690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ensemble methods or stacking outputs from complementary detectors could further improve detection reliability.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5349240"/>
            <a:ext cx="112928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534924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8580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One-Class SVM (F1 = 0.924) for balanced detection  ·  Autoencoder (ROC-AUC = 0.946) for threshold-driven deployment.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57200" y="6446520"/>
            <a:ext cx="11292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i="1" dirty="0">
              <a:solidFill>
                <a:srgbClr val="94A3B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Anomaly Detection &amp; Customer Segmentation</dc:title>
  <dc:subject>PptxGenJS Presentation</dc:subject>
  <dc:creator>Course Project Team</dc:creator>
  <cp:lastModifiedBy>Course Project Team</cp:lastModifiedBy>
  <cp:revision>4</cp:revision>
  <dcterms:created xsi:type="dcterms:W3CDTF">2026-05-19T19:50:01Z</dcterms:created>
  <dcterms:modified xsi:type="dcterms:W3CDTF">2026-05-19T19:57:06Z</dcterms:modified>
</cp:coreProperties>
</file>